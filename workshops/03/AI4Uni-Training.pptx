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embeddedFontLst>
    <p:embeddedFont>
      <p:font typeface="Source Sans 3" panose="020B0303030403090204" pitchFamily="34" charset="0"/>
      <p:regular r:id="rId23"/>
      <p:italic r:id="rId24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18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1874193"/>
            <a:ext cx="3067794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Copyright, </a:t>
            </a:r>
            <a:r>
              <a:rPr lang="en-US" sz="2400" b="1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Licences</a:t>
            </a:r>
            <a:r>
              <a:rPr lang="en-US" sz="24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&amp; Device Protection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874" y="2460054"/>
            <a:ext cx="46352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</a:rPr>
              <a:t>Tymoteusz Miller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</a:rPr>
              <a:t>University of Szczecin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8874" y="911944"/>
            <a:ext cx="4635252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AI-generated text, images, and code are now woven into everyday academic and professional life. But convenience can come with hidden legal and ethical risks — and most people don't know where the lines are.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68874" y="1895549"/>
            <a:ext cx="2250132" cy="1352401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4103787" y="2030462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📄</a:t>
            </a: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AI Text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03787" y="2303115"/>
            <a:ext cx="1980307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Essays, summaries, emails — generated in seconds but with uncertain authorship and copyright status.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3919" y="1895549"/>
            <a:ext cx="2250207" cy="1352401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6488832" y="2030462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🖼️</a:t>
            </a: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AI Images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88832" y="2303115"/>
            <a:ext cx="198038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Stunning visuals produced instantly — but trained on copyrighted works without always having permission.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68874" y="3382863"/>
            <a:ext cx="4635252" cy="947440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4103787" y="3517776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💻</a:t>
            </a: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AI Code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03787" y="3790429"/>
            <a:ext cx="4365427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Copilot and similar tools suggest entire functions — sometimes lifted directly from open-source repositories with licence obligations.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90115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Quick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9874" y="1146795"/>
            <a:ext cx="5428283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 You Just Use Google Images?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42615" y="1732657"/>
            <a:ext cx="4061966" cy="1595363"/>
          </a:xfrm>
          <a:prstGeom prst="roundRect">
            <a:avLst>
              <a:gd name="adj" fmla="val 1269"/>
            </a:avLst>
          </a:prstGeom>
          <a:solidFill>
            <a:srgbClr val="1D1F2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77528" y="1867570"/>
            <a:ext cx="1985218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❌</a:t>
            </a: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Common Assumption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7528" y="2194173"/>
            <a:ext cx="379214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it shows up in a Google search, it must be free to use — right? After all, it's public and accessible to anyone online.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1441" y="1867570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✅</a:t>
            </a: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The Reality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41441" y="2194173"/>
            <a:ext cx="3867448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Absolutely not. Appearing in search results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does not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mean an image is free to use. Almost every image on the web is automatically protected by copyright from the moment it's created. Using it without permission — even in a university assignment or presentation — can be infringement.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9874" y="3479825"/>
            <a:ext cx="8064252" cy="762446"/>
          </a:xfrm>
          <a:prstGeom prst="roundRect">
            <a:avLst>
              <a:gd name="adj" fmla="val 2656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87" y="3673227"/>
            <a:ext cx="168697" cy="13491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78396" y="3648447"/>
            <a:ext cx="7490817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Always check the licence before using any image, even if it appears "freely available" online. Look for a Creative Commons licence or explicit permission from the rights holder.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078483"/>
            <a:ext cx="3094360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Copyright?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9874" y="1731838"/>
            <a:ext cx="80642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Copyright is an automatic legal protection that arises the moment an original work is created — no registration required. It grants the creator exclusive control over how their work is used, shared, and monetized.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9874" y="2491011"/>
            <a:ext cx="2598093" cy="1573932"/>
          </a:xfrm>
          <a:prstGeom prst="roundRect">
            <a:avLst>
              <a:gd name="adj" fmla="val 5810"/>
            </a:avLst>
          </a:prstGeom>
          <a:solidFill>
            <a:srgbClr val="11121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539874" y="2471961"/>
            <a:ext cx="2598093" cy="7620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1636477" y="2288604"/>
            <a:ext cx="404887" cy="404887"/>
          </a:xfrm>
          <a:prstGeom prst="roundRect">
            <a:avLst>
              <a:gd name="adj" fmla="val 1411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1757921" y="2389808"/>
            <a:ext cx="16192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3837" y="282840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Author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3837" y="3101057"/>
            <a:ext cx="2290167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person (or organization) who creates an original work — a student essay, a photograph, a piece of software, a song.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2879" y="2491011"/>
            <a:ext cx="2598167" cy="1573932"/>
          </a:xfrm>
          <a:prstGeom prst="roundRect">
            <a:avLst>
              <a:gd name="adj" fmla="val 5810"/>
            </a:avLst>
          </a:prstGeom>
          <a:solidFill>
            <a:srgbClr val="11121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3272879" y="2471961"/>
            <a:ext cx="2598167" cy="7620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369482" y="2288604"/>
            <a:ext cx="404887" cy="404887"/>
          </a:xfrm>
          <a:prstGeom prst="roundRect">
            <a:avLst>
              <a:gd name="adj" fmla="val 1411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490926" y="2389808"/>
            <a:ext cx="16192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26842" y="282840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6842" y="3101057"/>
            <a:ext cx="2290242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Any original creative output: written text, images, music, code, films, databases, and more. The work must have a minimum level of originality.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05959" y="2491011"/>
            <a:ext cx="2598167" cy="1573932"/>
          </a:xfrm>
          <a:prstGeom prst="roundRect">
            <a:avLst>
              <a:gd name="adj" fmla="val 5810"/>
            </a:avLst>
          </a:prstGeom>
          <a:solidFill>
            <a:srgbClr val="11121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6005959" y="2471961"/>
            <a:ext cx="2598167" cy="7620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7102562" y="2288604"/>
            <a:ext cx="404887" cy="404887"/>
          </a:xfrm>
          <a:prstGeom prst="roundRect">
            <a:avLst>
              <a:gd name="adj" fmla="val 1411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224006" y="2389808"/>
            <a:ext cx="16192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59922" y="282840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Rights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59922" y="3101057"/>
            <a:ext cx="2290242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exclusive bundle of permissions — to copy, distribute, adapt, publicly perform, or license the work — held by the author.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705073"/>
            <a:ext cx="4152900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Types of Copyright Rights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9874" y="1425848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Moral Rights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9874" y="1752451"/>
            <a:ext cx="2152948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Tied to the author as a person — they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cannot be sold or transferred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These include: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39874" y="2481337"/>
            <a:ext cx="2152948" cy="130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right to be credited as the author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right to object to distortion or mutilation of the work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right to withdraw a work from circulation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9874" y="3912022"/>
            <a:ext cx="2152948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 if you buy a painting, you cannot remove the artist's name from it.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026941" y="1425848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Economic Rights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26941" y="1752451"/>
            <a:ext cx="2152948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are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transferable and licensable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the financial backbone of copyright. They include: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26941" y="2481337"/>
            <a:ext cx="2152948" cy="115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Reproduction (copying)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Distribution and selling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Creating derivative works or adaptations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Public communication or display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026941" y="3756720"/>
            <a:ext cx="2152948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Economic rights can be assigned to publishers, studios, or employers.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968276"/>
            <a:ext cx="6316935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&amp; Copyright: Who Owns the Output?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9874" y="1621631"/>
            <a:ext cx="80642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one of the most contested legal questions of our era. When an AI model generates a poem, image, or block of code — who holds the copyright?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476" y="2182602"/>
            <a:ext cx="202406" cy="2024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71" y="2178397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 the AI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78471" y="2451050"/>
            <a:ext cx="2137023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systems have no legal personhood and cannot hold rights. Models like ChatGPT or Midjourney are tools, not authors.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4792" y="2182602"/>
            <a:ext cx="202406" cy="2024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22787" y="2178397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Probably Not You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722787" y="2451050"/>
            <a:ext cx="2137023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legal systems (including the US and EU) currently do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grant copyright to AI-generated outputs with minimal human creative input. A simple prompt may not be enough.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9108" y="2182602"/>
            <a:ext cx="202406" cy="2024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67103" y="2178397"/>
            <a:ext cx="1724769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Possibly the Platform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67103" y="2451050"/>
            <a:ext cx="2137023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Some AI companies claim ownership via their Terms of Service — or explicitly grant usage rights to users. Always read the ToS of the tool you're using.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39874" y="3615258"/>
            <a:ext cx="8064252" cy="559966"/>
          </a:xfrm>
          <a:prstGeom prst="roundRect">
            <a:avLst>
              <a:gd name="adj" fmla="val 3616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87" y="3808661"/>
            <a:ext cx="168697" cy="1349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8396" y="3783881"/>
            <a:ext cx="7490817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Bottom line: AI output currently exists in a legal grey zone. Treat it with caution in any formal, commercial, or academic context.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42913"/>
            <a:ext cx="3014811" cy="2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Training Data Problem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539874" y="843558"/>
            <a:ext cx="8064252" cy="240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 language and image models are trained on </a:t>
            </a:r>
            <a:r>
              <a:rPr lang="en-US" sz="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vast datasets scraped from the internet</a:t>
            </a: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including books, articles, artwork, and code repositories — much of it without explicit permission from the original creators.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584" y="1159725"/>
            <a:ext cx="5644976" cy="315061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9874" y="4383807"/>
            <a:ext cx="8064252" cy="316781"/>
          </a:xfrm>
          <a:prstGeom prst="roundRect">
            <a:avLst>
              <a:gd name="adj" fmla="val 4474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05" y="4504879"/>
            <a:ext cx="118095" cy="944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6832" y="4473476"/>
            <a:ext cx="7662863" cy="120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Several major lawsuits are currently underway — from the New York Times, Getty Images, and individual artists — challenging the legality of training AI on copyrighted material without consent.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879425"/>
            <a:ext cx="4836616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Using AI Output: What's Safe?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9874" y="1532781"/>
            <a:ext cx="80642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type of AI-generated content matters. Here's a practical breakdown of how to think about using each type responsibly in academic and professional settings.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2089547"/>
            <a:ext cx="1493788" cy="9231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874" y="318142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AI-Generated Text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9874" y="3454078"/>
            <a:ext cx="2575620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as a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starting draft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only. Review, rewrite, and add your own voice. Submitting AI text as your own work may violate academic integrity policies.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190" y="2089547"/>
            <a:ext cx="1493788" cy="9231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4190" y="318142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AI-Generated Code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84190" y="3454078"/>
            <a:ext cx="2575620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 the source licence — some suggestions may come from GPL-licensed repositories, which carry obligations. Always review and test before using in production.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506" y="2089547"/>
            <a:ext cx="1493788" cy="9231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8506" y="3181424"/>
            <a:ext cx="170237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AI-Generated Images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28506" y="3454078"/>
            <a:ext cx="2575620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Ownership is unclear. Avoid using AI images in commercial work without verifying the platform's terms. For academic use, cite the tool and note the AI origin.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87859"/>
            <a:ext cx="4882976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Safe Rules for Using AI Output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9874" y="1141214"/>
            <a:ext cx="3964632" cy="1689720"/>
          </a:xfrm>
          <a:prstGeom prst="roundRect">
            <a:avLst>
              <a:gd name="adj" fmla="val 119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674787" y="1276127"/>
            <a:ext cx="404887" cy="404887"/>
          </a:xfrm>
          <a:prstGeom prst="roundRect">
            <a:avLst>
              <a:gd name="adj" fmla="val 141136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110" y="1387450"/>
            <a:ext cx="182166" cy="1821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4787" y="1815926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as a Draft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4787" y="2088579"/>
            <a:ext cx="3694807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Treat AI output as raw material — a starting point that requires your judgment, editing, and original thinking before it becomes a finished work.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39419" y="1141214"/>
            <a:ext cx="3964707" cy="1689720"/>
          </a:xfrm>
          <a:prstGeom prst="roundRect">
            <a:avLst>
              <a:gd name="adj" fmla="val 119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4774332" y="1276127"/>
            <a:ext cx="404887" cy="404887"/>
          </a:xfrm>
          <a:prstGeom prst="roundRect">
            <a:avLst>
              <a:gd name="adj" fmla="val 141136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655" y="1387450"/>
            <a:ext cx="182166" cy="1821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74332" y="1815926"/>
            <a:ext cx="187114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Avoid Blind Copy-Paste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74332" y="2088579"/>
            <a:ext cx="3694881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Never paste AI output directly into assignments, reports, or publications without substantial review. Errors, biases, and copyright-infringing passages can slip through unnoticed.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39874" y="2965847"/>
            <a:ext cx="3964632" cy="1689720"/>
          </a:xfrm>
          <a:prstGeom prst="roundRect">
            <a:avLst>
              <a:gd name="adj" fmla="val 119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Shape 10"/>
          <p:cNvSpPr/>
          <p:nvPr/>
        </p:nvSpPr>
        <p:spPr>
          <a:xfrm>
            <a:off x="674787" y="3100760"/>
            <a:ext cx="404887" cy="404887"/>
          </a:xfrm>
          <a:prstGeom prst="roundRect">
            <a:avLst>
              <a:gd name="adj" fmla="val 141136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10" y="3212083"/>
            <a:ext cx="182166" cy="1821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4787" y="3640559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Cite Your Tools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74787" y="3913212"/>
            <a:ext cx="3694807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Disclose when AI tools have been used in your work. Many universities and publishers now require this. Transparency builds trust and academic integrity.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39419" y="2965847"/>
            <a:ext cx="3964707" cy="1689720"/>
          </a:xfrm>
          <a:prstGeom prst="roundRect">
            <a:avLst>
              <a:gd name="adj" fmla="val 119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Shape 14"/>
          <p:cNvSpPr/>
          <p:nvPr/>
        </p:nvSpPr>
        <p:spPr>
          <a:xfrm>
            <a:off x="4774332" y="3100760"/>
            <a:ext cx="404887" cy="404887"/>
          </a:xfrm>
          <a:prstGeom prst="roundRect">
            <a:avLst>
              <a:gd name="adj" fmla="val 141136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5655" y="3212083"/>
            <a:ext cx="182166" cy="1821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74332" y="3640559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Read the ToS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74332" y="3913212"/>
            <a:ext cx="3694881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AI platform has different rules about who owns the output and how it can be used commercially or academically. Don't assume — always check.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69416"/>
            <a:ext cx="1303809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9874" y="771376"/>
            <a:ext cx="3988668" cy="325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AI-Generated Text in Practice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539874" y="1331268"/>
            <a:ext cx="4309318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student submits a 2,000-word essay largely written by ChatGPT with only minor edits. The submission is detected by AI detection software. Consider the layers of risk involved: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9874" y="1759297"/>
            <a:ext cx="4309318" cy="836712"/>
          </a:xfrm>
          <a:prstGeom prst="roundRect">
            <a:avLst>
              <a:gd name="adj" fmla="val 8196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525587" y="1759297"/>
            <a:ext cx="57150" cy="836712"/>
          </a:xfrm>
          <a:prstGeom prst="roundRect">
            <a:avLst>
              <a:gd name="adj" fmla="val 30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11696" y="1888257"/>
            <a:ext cx="1306264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Academic Integrity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696" y="2148706"/>
            <a:ext cx="4008537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student may face disciplinary action for misrepresenting the work as their own, regardless of whether the content is technically "correct."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874" y="2693491"/>
            <a:ext cx="4309318" cy="836712"/>
          </a:xfrm>
          <a:prstGeom prst="roundRect">
            <a:avLst>
              <a:gd name="adj" fmla="val 8196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525587" y="2693491"/>
            <a:ext cx="57150" cy="836712"/>
          </a:xfrm>
          <a:prstGeom prst="roundRect">
            <a:avLst>
              <a:gd name="adj" fmla="val 30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11696" y="2822451"/>
            <a:ext cx="1409849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Copyright Grey Zone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1696" y="3082900"/>
            <a:ext cx="4008537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the AI text mirrors a training source closely, there could be infringement exposure — even if the student is unaware of it.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874" y="3627686"/>
            <a:ext cx="4309318" cy="836712"/>
          </a:xfrm>
          <a:prstGeom prst="roundRect">
            <a:avLst>
              <a:gd name="adj" fmla="val 8196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525587" y="3627686"/>
            <a:ext cx="57150" cy="836712"/>
          </a:xfrm>
          <a:prstGeom prst="roundRect">
            <a:avLst>
              <a:gd name="adj" fmla="val 301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711696" y="3756645"/>
            <a:ext cx="1303809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Lost Learning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1696" y="4017094"/>
            <a:ext cx="4008537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Beyond policy risk, the student misses the critical thinking development that writing assignments are designed to build.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901" y="1353220"/>
            <a:ext cx="2953643" cy="29536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727695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9874" y="973336"/>
            <a:ext cx="4333280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Licences: Why They Matter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39874" y="1559198"/>
            <a:ext cx="4635252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licence is a legal permission granted by a copyright holder that specifies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exactly how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their work can be used — and under what conditions. Without a licence, the default is: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rights reserved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meaning you cannot use, copy, or share the work.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39874" y="2318445"/>
            <a:ext cx="4635252" cy="2097360"/>
          </a:xfrm>
          <a:prstGeom prst="roundRect">
            <a:avLst>
              <a:gd name="adj" fmla="val 96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Shape 4"/>
          <p:cNvSpPr/>
          <p:nvPr/>
        </p:nvSpPr>
        <p:spPr>
          <a:xfrm>
            <a:off x="539874" y="2318445"/>
            <a:ext cx="2317626" cy="1352401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674787" y="2453357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Licence Found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4787" y="2726010"/>
            <a:ext cx="204780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Assume full copyright protection applies. Do not use the work.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57500" y="2318445"/>
            <a:ext cx="2317626" cy="1352401"/>
          </a:xfrm>
          <a:prstGeom prst="rect">
            <a:avLst/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2857500" y="2318445"/>
            <a:ext cx="19050" cy="1352401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2992413" y="2453357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Licence Found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992413" y="2726010"/>
            <a:ext cx="204780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 every condition carefully. Attribution, non-commercial, share-alike — each term has consequences.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874" y="3670846"/>
            <a:ext cx="4635252" cy="744959"/>
          </a:xfrm>
          <a:prstGeom prst="rect">
            <a:avLst/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Shape 12"/>
          <p:cNvSpPr/>
          <p:nvPr/>
        </p:nvSpPr>
        <p:spPr>
          <a:xfrm>
            <a:off x="539874" y="3670846"/>
            <a:ext cx="4635252" cy="1905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3"/>
          <p:cNvSpPr/>
          <p:nvPr/>
        </p:nvSpPr>
        <p:spPr>
          <a:xfrm>
            <a:off x="674787" y="3805758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Licence Followed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4787" y="4078412"/>
            <a:ext cx="4365427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You're protected. Document your compliance in case questions arise later.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11832"/>
            <a:ext cx="4538142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Creative Commons Licences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9874" y="1265188"/>
            <a:ext cx="80642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Creative Commons (CC) licences allow creators to share their work with the public under standardized, human-readable terms. They're widely used for images, articles, music, and educational materials.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9874" y="1821954"/>
            <a:ext cx="2598093" cy="1997869"/>
          </a:xfrm>
          <a:prstGeom prst="roundRect">
            <a:avLst>
              <a:gd name="adj" fmla="val 1013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558924" y="1841004"/>
            <a:ext cx="2559993" cy="404887"/>
          </a:xfrm>
          <a:prstGeom prst="rect">
            <a:avLst/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7717" y="1942207"/>
            <a:ext cx="202406" cy="202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3837" y="238080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CC BY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3837" y="2653457"/>
            <a:ext cx="2290167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permissive.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You can use, adapt, and distribute — even commercially — as long as you credit the original author. Great for educational materials.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2879" y="1821954"/>
            <a:ext cx="2598167" cy="1997869"/>
          </a:xfrm>
          <a:prstGeom prst="roundRect">
            <a:avLst>
              <a:gd name="adj" fmla="val 1013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3291929" y="1841004"/>
            <a:ext cx="2560067" cy="404887"/>
          </a:xfrm>
          <a:prstGeom prst="rect">
            <a:avLst/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0722" y="1942207"/>
            <a:ext cx="202406" cy="2024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6842" y="238080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CC BY-NC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6842" y="2653457"/>
            <a:ext cx="2290242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Non-commercial only.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Free to use with attribution, but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for commercial purposes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Ideal for student projects, but check your university's commercial activities.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05959" y="1821954"/>
            <a:ext cx="2598167" cy="1997869"/>
          </a:xfrm>
          <a:prstGeom prst="roundRect">
            <a:avLst>
              <a:gd name="adj" fmla="val 1013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1"/>
          <p:cNvSpPr/>
          <p:nvPr/>
        </p:nvSpPr>
        <p:spPr>
          <a:xfrm>
            <a:off x="6025009" y="1841004"/>
            <a:ext cx="2560067" cy="404887"/>
          </a:xfrm>
          <a:prstGeom prst="rect">
            <a:avLst/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3802" y="1942207"/>
            <a:ext cx="202406" cy="2024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59922" y="238080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CC BY-SA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59922" y="2653457"/>
            <a:ext cx="2290242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Share-alike (copyleft).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You may adapt the work, but any derivative must be released under the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same licence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This "viral" condition has significant implications for larger projects.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39874" y="3971627"/>
            <a:ext cx="8064252" cy="559966"/>
          </a:xfrm>
          <a:prstGeom prst="roundRect">
            <a:avLst>
              <a:gd name="adj" fmla="val 3616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87" y="4165029"/>
            <a:ext cx="168697" cy="13491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8396" y="4140250"/>
            <a:ext cx="7490817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Always note which CC version applies (e.g., CC BY 4.0) and include a proper attribution statement when using CC-licensed content.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95461"/>
            <a:ext cx="3067794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Software Licences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9874" y="1248817"/>
            <a:ext cx="80642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is also protected by copyright. When you use, fork, or contribute to a software project, the licence governs everything you can — and can't — do.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9874" y="1940496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MIT Licence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874" y="2267099"/>
            <a:ext cx="2440484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Very permissive.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Use, copy, modify, distribute — including in proprietary software — with minimal restrictions. Only requirement: preserve the copyright notice.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9874" y="3431307"/>
            <a:ext cx="2440484" cy="964927"/>
          </a:xfrm>
          <a:prstGeom prst="roundRect">
            <a:avLst>
              <a:gd name="adj" fmla="val 2098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87" y="3624709"/>
            <a:ext cx="168697" cy="1349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396" y="3599929"/>
            <a:ext cx="1867049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 risk. Widely used in open-source projects and safe for academic and commercial use.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17218" y="1805583"/>
            <a:ext cx="2718941" cy="2742456"/>
          </a:xfrm>
          <a:prstGeom prst="roundRect">
            <a:avLst>
              <a:gd name="adj" fmla="val 745"/>
            </a:avLst>
          </a:prstGeom>
          <a:solidFill>
            <a:srgbClr val="1D1F2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3352130" y="1940496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GPL Licence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52130" y="2267099"/>
            <a:ext cx="2449116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Copyleft / viral.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You can use and modify the code, but any software you distribute that incorporates GPL code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must also be open-sourced under GPL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52130" y="3228826"/>
            <a:ext cx="2449116" cy="1167408"/>
          </a:xfrm>
          <a:prstGeom prst="roundRect">
            <a:avLst>
              <a:gd name="adj" fmla="val 1734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043" y="3422228"/>
            <a:ext cx="168697" cy="1349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0652" y="3397448"/>
            <a:ext cx="187568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obligation. Check carefully before incorporating GPL code into a closed-source or commercial product.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73019" y="1940496"/>
            <a:ext cx="1567309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Proprietary Licence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73019" y="2267099"/>
            <a:ext cx="2440484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rights reserved.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software is owned by a company or individual. Redistribution, modification, and reverse engineering are typically prohibited.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73019" y="3228826"/>
            <a:ext cx="2440484" cy="1167408"/>
          </a:xfrm>
          <a:prstGeom prst="roundRect">
            <a:avLst>
              <a:gd name="adj" fmla="val 1734"/>
            </a:avLst>
          </a:prstGeom>
          <a:solidFill>
            <a:srgbClr val="45070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931" y="3422228"/>
            <a:ext cx="168697" cy="1349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11541" y="3397448"/>
            <a:ext cx="1867049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 not share, modify, or redistribute without explicit written permission from the rights holder.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97309"/>
            <a:ext cx="5162848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Licence Risk: No Licence = No Use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181323"/>
            <a:ext cx="3283967" cy="32839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4304" y="1153939"/>
            <a:ext cx="4294510" cy="562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Finding content online without a visible licence is not an invitation to use it freely. Under copyright law in virtually every jurisdiction, </a:t>
            </a:r>
            <a:r>
              <a:rPr lang="en-US" sz="10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absence of a licence means all rights are reserved</a:t>
            </a: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by default.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314304" y="1853282"/>
            <a:ext cx="288503" cy="288503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4724623" y="1897335"/>
            <a:ext cx="2635746" cy="1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Don't assume silence = permission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24623" y="2201242"/>
            <a:ext cx="3884191" cy="3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stated licence means the full force of copyright applies. You need explicit permission to use, copy, or adapt the work.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14304" y="2819772"/>
            <a:ext cx="288503" cy="288503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4724623" y="2863825"/>
            <a:ext cx="2125935" cy="1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Document your compliance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24623" y="3167732"/>
            <a:ext cx="3884191" cy="3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you do find a valid licence, save proof of it. Licences can be revoked or changed, and documentation protects you.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14304" y="3786262"/>
            <a:ext cx="288503" cy="288503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4724623" y="3830315"/>
            <a:ext cx="2082701" cy="1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When in doubt, don't use 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24623" y="4134222"/>
            <a:ext cx="3884191" cy="3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safest default is to seek an alternative with a clearly stated open licence — or contact the rights holder directly.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020440"/>
            <a:ext cx="7439844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Recommended Tools for Licence-Safe 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9874" y="1673796"/>
            <a:ext cx="8064252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platforms provide access to openly licensed or rights-cleared content suitable for academic and creative projects.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2028081"/>
            <a:ext cx="566589" cy="5665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159" y="2028081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75159" y="2300734"/>
            <a:ext cx="1840334" cy="18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world's largest code-sharing platform. Most repositories display their licence prominently. Always check — and respect — the licence before cloning, forking, or incorporating code. Use the licence filter when searching for reusable projects.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190" y="2028081"/>
            <a:ext cx="566589" cy="5665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19476" y="2028081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Unsplash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019476" y="2300734"/>
            <a:ext cx="1840334" cy="18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library of high-quality photographs available for free use under the Unsplash Licence — which permits commercial and non-commercial use without attribution (though attribution is appreciated). Great for presentations, websites, and publications.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506" y="2028081"/>
            <a:ext cx="566589" cy="56658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3792" y="2028081"/>
            <a:ext cx="1821433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CC Search / Openverse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763792" y="2300734"/>
            <a:ext cx="1840334" cy="1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across millions of openly licensed images, audio, and video from platforms like Flickr, Wikimedia, and more. Filter by specific CC licence type to match your project's needs.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691083"/>
            <a:ext cx="4635252" cy="61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Cybersecurity: The Main Risks for University Users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9874" y="1434108"/>
            <a:ext cx="4635252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Universities are among the top targets for cyberattacks — they hold valuable research data, student records, and financial information, often with less mature security infrastructure than corporations.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39874" y="1822698"/>
            <a:ext cx="4635252" cy="566812"/>
          </a:xfrm>
          <a:prstGeom prst="roundRect">
            <a:avLst>
              <a:gd name="adj" fmla="val 285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647849" y="1930673"/>
            <a:ext cx="122708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🎣</a:t>
            </a: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Phishing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7849" y="2135832"/>
            <a:ext cx="4419302" cy="145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Fraudulent emails or messages designed to steal credentials or install malware.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39874" y="2475830"/>
            <a:ext cx="4635252" cy="712515"/>
          </a:xfrm>
          <a:prstGeom prst="roundRect">
            <a:avLst>
              <a:gd name="adj" fmla="val 2273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647849" y="2583805"/>
            <a:ext cx="1277317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🔓</a:t>
            </a: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Weak Passwords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7849" y="2788965"/>
            <a:ext cx="4419302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Reused or simple passwords make accounts easy to compromise through brute force or credential stuffing.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39874" y="3274665"/>
            <a:ext cx="4635252" cy="566812"/>
          </a:xfrm>
          <a:prstGeom prst="roundRect">
            <a:avLst>
              <a:gd name="adj" fmla="val 285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647849" y="3382640"/>
            <a:ext cx="1435224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📱</a:t>
            </a: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Unpatched Devices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7849" y="3587800"/>
            <a:ext cx="4419302" cy="145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Outdated software contains known vulnerabilities that attackers actively exploit.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39874" y="3927797"/>
            <a:ext cx="4635252" cy="712515"/>
          </a:xfrm>
          <a:prstGeom prst="roundRect">
            <a:avLst>
              <a:gd name="adj" fmla="val 2273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3"/>
          <p:cNvSpPr/>
          <p:nvPr/>
        </p:nvSpPr>
        <p:spPr>
          <a:xfrm>
            <a:off x="647849" y="4035772"/>
            <a:ext cx="122708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☁️</a:t>
            </a: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Data Leakage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7849" y="4240932"/>
            <a:ext cx="4419302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Sensitive information shared with AI tools or cloud services without understanding data retention policies.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80355"/>
            <a:ext cx="3999235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Phishing in the Age of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9874" y="1233711"/>
            <a:ext cx="80642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Phishing — the attempt to trick users into clicking malicious links or handing over credentials — has existed for decades. But AI has made these attacks dramatically more convincing and harder to spot.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9874" y="1925389"/>
            <a:ext cx="1615306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Traditional Phishing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874" y="2251993"/>
            <a:ext cx="3867448" cy="95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Generic greetings ("Dear User")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Poor grammar and spelling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Obvious sender spoofing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One-size-fits-all messaging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9874" y="3324895"/>
            <a:ext cx="3867448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Relatively easy to detect with training and awareness.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44182" y="1790477"/>
            <a:ext cx="4061966" cy="1858342"/>
          </a:xfrm>
          <a:prstGeom prst="roundRect">
            <a:avLst>
              <a:gd name="adj" fmla="val 1090"/>
            </a:avLst>
          </a:prstGeom>
          <a:solidFill>
            <a:srgbClr val="1D1F2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779094" y="1925389"/>
            <a:ext cx="179003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AI-Enhanced Phishing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79094" y="2251993"/>
            <a:ext cx="3792141" cy="95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Personalized using scraped social data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Perfect grammar and professional tone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Cloned websites and deepfake audio/video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Contextually relevant and timely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79094" y="3324895"/>
            <a:ext cx="3792141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Significantly harder to detect — even for trained professionals.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9874" y="3800624"/>
            <a:ext cx="8064252" cy="762446"/>
          </a:xfrm>
          <a:prstGeom prst="roundRect">
            <a:avLst>
              <a:gd name="adj" fmla="val 2656"/>
            </a:avLst>
          </a:prstGeom>
          <a:solidFill>
            <a:srgbClr val="450707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87" y="3994026"/>
            <a:ext cx="168697" cy="13491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78396" y="3969246"/>
            <a:ext cx="7490817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an email creates urgency, requests credentials, or asks you to click a link — </a:t>
            </a:r>
            <a:r>
              <a:rPr lang="en-US" sz="10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stop and verify</a:t>
            </a: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by contacting the sender through a known, separate channel before acting.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784324"/>
            <a:ext cx="4567907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Device Protection Essentials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9874" y="1437680"/>
            <a:ext cx="80642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personal devices are the front door to university systems, personal data, and sensitive research. Keeping them secure is a shared responsibility — and it starts with three fundamentals.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2280" y="2534320"/>
            <a:ext cx="2395612" cy="134913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539874" y="2399295"/>
            <a:ext cx="404887" cy="404887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077" y="2500499"/>
            <a:ext cx="202406" cy="202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4787" y="2939132"/>
            <a:ext cx="190916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Keep Software Updated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4787" y="3211785"/>
            <a:ext cx="2328267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 automatic updates for your OS, browsers, and apps. Most successful cyberattacks exploit </a:t>
            </a: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known vulnerabilities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outdated software — ones that patches already fix.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5286" y="2331839"/>
            <a:ext cx="2395686" cy="134913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3272879" y="2196815"/>
            <a:ext cx="404887" cy="404887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4082" y="2298018"/>
            <a:ext cx="202406" cy="2024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7792" y="2736652"/>
            <a:ext cx="1948383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Enable MFA Everywhere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07792" y="3009305"/>
            <a:ext cx="2328342" cy="1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Multi-Factor Authentication adds a second verification step beyond your password. Even if your password is stolen, MFA prevents unauthorized access. Use an authenticator app rather than SMS where possible.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08365" y="2129433"/>
            <a:ext cx="2395686" cy="134913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Shape 11"/>
          <p:cNvSpPr/>
          <p:nvPr/>
        </p:nvSpPr>
        <p:spPr>
          <a:xfrm>
            <a:off x="6005959" y="1994408"/>
            <a:ext cx="404887" cy="404887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7162" y="2095612"/>
            <a:ext cx="202406" cy="2024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0872" y="2534245"/>
            <a:ext cx="2328342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Strong, Unique Passwords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40872" y="2998589"/>
            <a:ext cx="2328342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Never reuse passwords across accounts. Use a reputable password manager (e.g., Bitwarden, 1Password) to generate and store long, random credentials for every service.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6690"/>
            <a:ext cx="5755407" cy="345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Tools &amp; Sensitive Data: A Serious Risk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058614"/>
            <a:ext cx="2743051" cy="2743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88804" y="1034058"/>
            <a:ext cx="4720010" cy="519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you paste text into an AI chatbot, </a:t>
            </a:r>
            <a:r>
              <a:rPr lang="en-US" sz="9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 may be sharing it with the AI provider's servers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and it could be used to train future models. This is not hypothetical: several real-world incidents have occurred.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88804" y="1676474"/>
            <a:ext cx="4720010" cy="899592"/>
          </a:xfrm>
          <a:prstGeom prst="roundRect">
            <a:avLst>
              <a:gd name="adj" fmla="val 7623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3874517" y="1676474"/>
            <a:ext cx="57150" cy="899592"/>
          </a:xfrm>
          <a:prstGeom prst="roundRect">
            <a:avLst>
              <a:gd name="adj" fmla="val 318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4067398" y="1812206"/>
            <a:ext cx="1916609" cy="1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Never Paste Personal Data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067398" y="2094012"/>
            <a:ext cx="4405685" cy="346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IDs, health records, contact details, financial information — these are protected by FERPA, GDPR, and university policy.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88804" y="2685380"/>
            <a:ext cx="4720010" cy="899592"/>
          </a:xfrm>
          <a:prstGeom prst="roundRect">
            <a:avLst>
              <a:gd name="adj" fmla="val 7623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3874517" y="2685380"/>
            <a:ext cx="57150" cy="899592"/>
          </a:xfrm>
          <a:prstGeom prst="roundRect">
            <a:avLst>
              <a:gd name="adj" fmla="val 318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4067398" y="2821112"/>
            <a:ext cx="1951360" cy="1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Never Paste Research Data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67398" y="3102918"/>
            <a:ext cx="4405685" cy="346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Unpublished findings, confidential datasets, or IP under development could be exposed or claimed by the AI platform.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88804" y="3694286"/>
            <a:ext cx="4720010" cy="899592"/>
          </a:xfrm>
          <a:prstGeom prst="roundRect">
            <a:avLst>
              <a:gd name="adj" fmla="val 7623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1"/>
          <p:cNvSpPr/>
          <p:nvPr/>
        </p:nvSpPr>
        <p:spPr>
          <a:xfrm>
            <a:off x="3874517" y="3694286"/>
            <a:ext cx="57150" cy="899592"/>
          </a:xfrm>
          <a:prstGeom prst="roundRect">
            <a:avLst>
              <a:gd name="adj" fmla="val 318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4067398" y="3830017"/>
            <a:ext cx="2229520" cy="1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Check Data Retention Settings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067398" y="4111823"/>
            <a:ext cx="4405685" cy="346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AI tools allow you to disable conversation history. Always review privacy settings before using institutional information.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91133"/>
            <a:ext cx="1303809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 Complete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9874" y="693093"/>
            <a:ext cx="3250778" cy="325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AI Safety Checklist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539874" y="1165250"/>
            <a:ext cx="8064252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 you close this training, commit these principles to practice. Every time you use AI tools, encounter new content, or work on a university device — run through this checklist.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9874" y="1593279"/>
            <a:ext cx="3983385" cy="1210791"/>
          </a:xfrm>
          <a:prstGeom prst="roundRect">
            <a:avLst>
              <a:gd name="adj" fmla="val 142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654546" y="1707952"/>
            <a:ext cx="344165" cy="344165"/>
          </a:xfrm>
          <a:prstGeom prst="roundRect">
            <a:avLst>
              <a:gd name="adj" fmla="val 166037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201" y="1802606"/>
            <a:ext cx="154856" cy="1548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4546" y="2149599"/>
            <a:ext cx="1456432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✔</a:t>
            </a: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Check the Licence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4546" y="2371055"/>
            <a:ext cx="3754041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 using any image, text, or code — verify its licence. No licence means no use. Document your compliance.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20741" y="1593279"/>
            <a:ext cx="3983385" cy="1210791"/>
          </a:xfrm>
          <a:prstGeom prst="roundRect">
            <a:avLst>
              <a:gd name="adj" fmla="val 142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4735413" y="1707952"/>
            <a:ext cx="344165" cy="344165"/>
          </a:xfrm>
          <a:prstGeom prst="roundRect">
            <a:avLst>
              <a:gd name="adj" fmla="val 166037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0068" y="1802606"/>
            <a:ext cx="154856" cy="1548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5413" y="2149599"/>
            <a:ext cx="1552873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✔</a:t>
            </a: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Recognize Phishing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35413" y="2371055"/>
            <a:ext cx="3754041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Pause before clicking any link or sharing credentials. Verify urgency-inducing messages through a separate channel.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39874" y="2901553"/>
            <a:ext cx="3983385" cy="1210791"/>
          </a:xfrm>
          <a:prstGeom prst="roundRect">
            <a:avLst>
              <a:gd name="adj" fmla="val 142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654546" y="3016225"/>
            <a:ext cx="344165" cy="344165"/>
          </a:xfrm>
          <a:prstGeom prst="roundRect">
            <a:avLst>
              <a:gd name="adj" fmla="val 166037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201" y="3110880"/>
            <a:ext cx="154856" cy="1548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546" y="3457873"/>
            <a:ext cx="1412825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✔</a:t>
            </a: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Protect Your Data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54546" y="3679329"/>
            <a:ext cx="3754041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Never paste sensitive, personal, or institutional data into AI tools. Update devices, enable MFA, use a password manager.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620741" y="2901553"/>
            <a:ext cx="3983385" cy="1210791"/>
          </a:xfrm>
          <a:prstGeom prst="roundRect">
            <a:avLst>
              <a:gd name="adj" fmla="val 142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Shape 16"/>
          <p:cNvSpPr/>
          <p:nvPr/>
        </p:nvSpPr>
        <p:spPr>
          <a:xfrm>
            <a:off x="4735413" y="3016225"/>
            <a:ext cx="344165" cy="344165"/>
          </a:xfrm>
          <a:prstGeom prst="roundRect">
            <a:avLst>
              <a:gd name="adj" fmla="val 166037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0068" y="3110880"/>
            <a:ext cx="154856" cy="1548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35413" y="3457873"/>
            <a:ext cx="1497509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✔</a:t>
            </a: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Use AI Responsibly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35413" y="3679329"/>
            <a:ext cx="3754041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Treat AI output as a draft. Cite your tools, add your own voice, and respect academic integrity policies at all times.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39874" y="4222031"/>
            <a:ext cx="8064252" cy="430337"/>
          </a:xfrm>
          <a:prstGeom prst="roundRect">
            <a:avLst>
              <a:gd name="adj" fmla="val 3999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546" y="4379268"/>
            <a:ext cx="143396" cy="1146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2614" y="4348163"/>
            <a:ext cx="7576840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You've completed the AI4Uni training on Copyright, Licences &amp; Device Protection. Questions? Contact your university's IT or legal compliance team.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2475</Words>
  <Application>Microsoft Macintosh PowerPoint</Application>
  <PresentationFormat>Pokaz na ekranie (16:9)</PresentationFormat>
  <Paragraphs>197</Paragraphs>
  <Slides>20</Slides>
  <Notes>20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4" baseType="lpstr">
      <vt:lpstr>Source Sans 3</vt:lpstr>
      <vt:lpstr>Montserrat Bold</vt:lpstr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Tymoteusz Miller</cp:lastModifiedBy>
  <cp:revision>3</cp:revision>
  <dcterms:created xsi:type="dcterms:W3CDTF">2026-05-05T06:33:29Z</dcterms:created>
  <dcterms:modified xsi:type="dcterms:W3CDTF">2026-05-05T06:45:37Z</dcterms:modified>
</cp:coreProperties>
</file>